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B0604020202020204" pitchFamily="34" charset="0"/>
      <p:regular r:id="rId15"/>
    </p:embeddedFont>
    <p:embeddedFont>
      <p:font typeface="Arimo Bold" panose="020B0704020202020204" pitchFamily="34" charset="0"/>
      <p:regular r:id="rId16"/>
      <p:bold r:id="rId17"/>
    </p:embeddedFont>
    <p:embeddedFont>
      <p:font typeface="League Spartan" pitchFamily="2" charset="7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59485" autoAdjust="0"/>
  </p:normalViewPr>
  <p:slideViewPr>
    <p:cSldViewPr>
      <p:cViewPr varScale="1">
        <p:scale>
          <a:sx n="44" d="100"/>
          <a:sy n="44" d="100"/>
        </p:scale>
        <p:origin x="238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C8A4C-BE2E-2749-A095-442243D0392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39282-FCA8-1641-B279-B13CF4CF3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32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afternoon, I’m Tooba.</a:t>
            </a:r>
            <a:br>
              <a:rPr lang="en-US" dirty="0"/>
            </a:br>
            <a:r>
              <a:rPr lang="en-US" dirty="0"/>
              <a:t>My presentation is on </a:t>
            </a:r>
            <a:r>
              <a:rPr lang="en-US" dirty="0" err="1"/>
              <a:t>Gradio</a:t>
            </a:r>
            <a:r>
              <a:rPr lang="en-US" dirty="0"/>
              <a:t>. </a:t>
            </a:r>
          </a:p>
          <a:p>
            <a:r>
              <a:rPr lang="en-US" dirty="0"/>
              <a:t>It is a Python library for building interactive interfaces for data and machine learning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64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A quick overview for today: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I’ve created a Personal Budget Planner app using </a:t>
            </a:r>
            <a:r>
              <a:rPr lang="en-US" dirty="0" err="1"/>
              <a:t>Gradio</a:t>
            </a:r>
            <a:r>
              <a:rPr lang="en-US" dirty="0"/>
              <a:t>, and today I’ll walk through what the library does, why a data scientist would use it, and then demonstrate the tool live.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08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Gradio</a:t>
            </a:r>
            <a:r>
              <a:rPr lang="en-US" dirty="0"/>
              <a:t> is a Python library that automatically generates a usable web interface from Python functions.</a:t>
            </a:r>
            <a:br>
              <a:rPr lang="en-US" dirty="0"/>
            </a:br>
            <a:r>
              <a:rPr lang="en-US" dirty="0"/>
              <a:t>This solves a common problem in data science. We often build models or analytical tools in notebooks, but nobody outside of the technical team can test or interact with them.</a:t>
            </a:r>
            <a:br>
              <a:rPr lang="en-US" dirty="0"/>
            </a:br>
            <a:r>
              <a:rPr lang="en-US" dirty="0"/>
              <a:t>With </a:t>
            </a:r>
            <a:r>
              <a:rPr lang="en-US" dirty="0" err="1"/>
              <a:t>Gradio</a:t>
            </a:r>
            <a:r>
              <a:rPr lang="en-US" dirty="0"/>
              <a:t>, I can take a function, wrap it in an interface, and share it instantly through the web.</a:t>
            </a:r>
            <a:br>
              <a:rPr lang="en-US" dirty="0"/>
            </a:br>
            <a:r>
              <a:rPr lang="en-US" dirty="0"/>
              <a:t>No HTML, CSS, JavaScript, Flask, or front-end engineering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93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 err="1"/>
              <a:t>Gradio</a:t>
            </a:r>
            <a:r>
              <a:rPr lang="en-US" dirty="0"/>
              <a:t> is especially useful in collaborative environments.</a:t>
            </a:r>
            <a:br>
              <a:rPr lang="en-US" dirty="0"/>
            </a:br>
            <a:r>
              <a:rPr lang="en-US" dirty="0"/>
              <a:t>Imagine working with marketing, operations, executives, or clients - they don’t want to see code. They want to interact with the logic.</a:t>
            </a:r>
            <a:br>
              <a:rPr lang="en-US" dirty="0"/>
            </a:br>
            <a:r>
              <a:rPr lang="en-US" dirty="0" err="1"/>
              <a:t>Gradio</a:t>
            </a:r>
            <a:r>
              <a:rPr lang="en-US" dirty="0"/>
              <a:t> lets me put sliders, dropdowns, images, charts and turn my Python code into a working UI.</a:t>
            </a:r>
            <a:br>
              <a:rPr lang="en-US" dirty="0"/>
            </a:br>
            <a:endParaRPr lang="en-US" dirty="0"/>
          </a:p>
          <a:p>
            <a:pPr algn="l"/>
            <a:r>
              <a:rPr lang="en-US" dirty="0"/>
              <a:t>This makes it great for: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Experimentation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Displaying model outputs visually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Quick iteration &amp; feedback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Portfolio or client demonstration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46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Gradio</a:t>
            </a:r>
            <a:r>
              <a:rPr lang="en-US" dirty="0"/>
              <a:t> is more plug-and-play, great for quick demos.</a:t>
            </a:r>
          </a:p>
          <a:p>
            <a:r>
              <a:rPr lang="en-US" dirty="0" err="1"/>
              <a:t>Streamlit</a:t>
            </a:r>
            <a:r>
              <a:rPr lang="en-US" dirty="0"/>
              <a:t> is better for full dashboards and internal tools.</a:t>
            </a:r>
          </a:p>
          <a:p>
            <a:r>
              <a:rPr lang="en-US" dirty="0"/>
              <a:t>Flask is for developers building full production apps as it requires HTML/CSS/JS knowledge.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46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To summarize how </a:t>
            </a:r>
            <a:r>
              <a:rPr lang="en-US" dirty="0" err="1"/>
              <a:t>Gradio</a:t>
            </a:r>
            <a:r>
              <a:rPr lang="en-US" dirty="0"/>
              <a:t> performs in practice, there are some clear strengths, but also some limitations to be aware of.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On the strengths side:</a:t>
            </a:r>
          </a:p>
          <a:p>
            <a:pPr algn="l"/>
            <a:r>
              <a:rPr lang="en-US" dirty="0" err="1"/>
              <a:t>Gradio</a:t>
            </a:r>
            <a:r>
              <a:rPr lang="en-US" dirty="0"/>
              <a:t> is extremely easy to build and deploy.</a:t>
            </a:r>
            <a:br>
              <a:rPr lang="en-US" dirty="0"/>
            </a:br>
            <a:r>
              <a:rPr lang="en-US" dirty="0"/>
              <a:t>It allows for very fast experimentation, which is great when you're iterating on models or analytical tools.</a:t>
            </a:r>
          </a:p>
          <a:p>
            <a:pPr algn="l"/>
            <a:r>
              <a:rPr lang="en-US" dirty="0"/>
              <a:t>It’s also designed to integrate well with machine learning workflows and data science code, so there’s no need for separate front-end development or frameworks.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However, </a:t>
            </a:r>
            <a:r>
              <a:rPr lang="en-US" dirty="0" err="1"/>
              <a:t>Gradio</a:t>
            </a:r>
            <a:r>
              <a:rPr lang="en-US" dirty="0"/>
              <a:t> does have some limitations: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It’s not really designed for large-scale, production-level business applications.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styling and layout customization is limited compared to something like </a:t>
            </a:r>
            <a:r>
              <a:rPr lang="en-US" dirty="0" err="1"/>
              <a:t>Streamlit</a:t>
            </a:r>
            <a:r>
              <a:rPr lang="en-US" dirty="0"/>
              <a:t> or a fully engineered UI.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because apps are typically shared via hosted links, you do need a stable internet environment to share and collaborate externally.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57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Now that we’ve covered what </a:t>
            </a:r>
            <a:r>
              <a:rPr lang="en-US" dirty="0" err="1"/>
              <a:t>Gradio</a:t>
            </a:r>
            <a:r>
              <a:rPr lang="en-US" dirty="0"/>
              <a:t> is and why it’s useful, I want to show how I applied it in a real scenario.</a:t>
            </a:r>
          </a:p>
          <a:p>
            <a:pPr algn="l"/>
            <a:r>
              <a:rPr lang="en-US" dirty="0"/>
              <a:t>For this project, I built a Personal Budget Planner app entirely in Python, and the interface is created using </a:t>
            </a:r>
            <a:r>
              <a:rPr lang="en-US" dirty="0" err="1"/>
              <a:t>Gradio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Budgeting is universal. This tool helps users visualize spending tradeoffs across income and basic cost categories.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68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dirty="0"/>
              <a:t>How it works:</a:t>
            </a:r>
          </a:p>
          <a:p>
            <a:pPr algn="l"/>
            <a:r>
              <a:rPr lang="en-US" dirty="0"/>
              <a:t>The user enters their monthly income and then adjusts sliders for their major spending categories: housing or rent, food, transportation, and any other expenses.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Once the values are entered, the app automatically calculates three things:</a:t>
            </a:r>
          </a:p>
          <a:p>
            <a:pPr algn="l">
              <a:buFont typeface="+mj-lt"/>
              <a:buAutoNum type="arabicPeriod"/>
            </a:pPr>
            <a:r>
              <a:rPr lang="en-US" dirty="0"/>
              <a:t>The total monthly expenses</a:t>
            </a:r>
          </a:p>
          <a:p>
            <a:pPr algn="l">
              <a:buFont typeface="+mj-lt"/>
              <a:buAutoNum type="arabicPeriod"/>
            </a:pPr>
            <a:r>
              <a:rPr lang="en-US" dirty="0"/>
              <a:t>How much savings remain</a:t>
            </a:r>
          </a:p>
          <a:p>
            <a:pPr algn="l">
              <a:buFont typeface="+mj-lt"/>
              <a:buAutoNum type="arabicPeriod"/>
            </a:pPr>
            <a:r>
              <a:rPr lang="en-US" dirty="0"/>
              <a:t>And whether the spending pattern is healthy or overshooting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In addition to the text summary, the app also generates a pie chart that visually breaks down how the user’s money is being allocated. </a:t>
            </a:r>
          </a:p>
          <a:p>
            <a:pPr algn="l"/>
            <a:r>
              <a:rPr lang="en-US" dirty="0"/>
              <a:t>This makes it easy to quickly see where most of the budget is going.</a:t>
            </a:r>
          </a:p>
          <a:p>
            <a:pPr algn="l"/>
            <a:r>
              <a:rPr lang="en-US" dirty="0"/>
              <a:t>The user also has the option to download a personalized PDF report.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27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I’ll walk through how the code behind the app all. I’ve simplified it into three parts so it’s easy to follow: the core budget function, the UI layer, and the app launch.</a:t>
            </a:r>
          </a:p>
          <a:p>
            <a:endParaRPr lang="en-US" dirty="0"/>
          </a:p>
          <a:p>
            <a:r>
              <a:rPr lang="en-US" b="1" dirty="0"/>
              <a:t>Part 1: Core Function </a:t>
            </a:r>
          </a:p>
          <a:p>
            <a:r>
              <a:rPr lang="en-US" dirty="0"/>
              <a:t>First, this is the core Python function that performs the financial logic.</a:t>
            </a:r>
            <a:br>
              <a:rPr lang="en-US" dirty="0"/>
            </a:br>
            <a:r>
              <a:rPr lang="en-US" dirty="0"/>
              <a:t>It takes the user’s income and expense inputs, adds the expenses together, calculates the remaining savings, and then assigns a budget status. </a:t>
            </a:r>
          </a:p>
          <a:p>
            <a:r>
              <a:rPr lang="en-US" dirty="0"/>
              <a:t>For example, whether someone is overspending, in a break-even situation, or saving a healthy amount.</a:t>
            </a:r>
            <a:br>
              <a:rPr lang="en-US" dirty="0"/>
            </a:br>
            <a:r>
              <a:rPr lang="en-US" dirty="0"/>
              <a:t>This function is where all the actual calculation happens.</a:t>
            </a:r>
          </a:p>
          <a:p>
            <a:endParaRPr lang="en-US" dirty="0"/>
          </a:p>
          <a:p>
            <a:pPr algn="l"/>
            <a:r>
              <a:rPr lang="en-US" b="1" dirty="0"/>
              <a:t>Part 2: UI Layer</a:t>
            </a:r>
          </a:p>
          <a:p>
            <a:r>
              <a:rPr lang="en-US" dirty="0"/>
              <a:t>Next, </a:t>
            </a:r>
            <a:r>
              <a:rPr lang="en-US" dirty="0" err="1"/>
              <a:t>Gradio</a:t>
            </a:r>
            <a:r>
              <a:rPr lang="en-US" dirty="0"/>
              <a:t> is used to build the interface.</a:t>
            </a:r>
            <a:br>
              <a:rPr lang="en-US" dirty="0"/>
            </a:br>
            <a:r>
              <a:rPr lang="en-US" dirty="0"/>
              <a:t>Instead of writing any HTML or JavaScript, I just define sliders for each spending input, and a text output box to display the summary.</a:t>
            </a:r>
            <a:br>
              <a:rPr lang="en-US" dirty="0"/>
            </a:br>
            <a:r>
              <a:rPr lang="en-US" dirty="0" err="1"/>
              <a:t>Gradio</a:t>
            </a:r>
            <a:r>
              <a:rPr lang="en-US" dirty="0"/>
              <a:t> automatically connects the UI components to the function, so whatever values the user changes are passed directly into the calculation in real time.</a:t>
            </a:r>
            <a:br>
              <a:rPr lang="en-US" dirty="0"/>
            </a:br>
            <a:r>
              <a:rPr lang="en-US" dirty="0"/>
              <a:t>This is what makes the app interactive.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Part 3: Launching the App</a:t>
            </a:r>
          </a:p>
          <a:p>
            <a:r>
              <a:rPr lang="en-US" dirty="0"/>
              <a:t>Finally, everything gets wrapped together inside a </a:t>
            </a:r>
            <a:r>
              <a:rPr lang="en-US" dirty="0" err="1"/>
              <a:t>gr.Blocks</a:t>
            </a:r>
            <a:r>
              <a:rPr lang="en-US" dirty="0"/>
              <a:t>() layout.</a:t>
            </a:r>
            <a:br>
              <a:rPr lang="en-US" dirty="0"/>
            </a:br>
            <a:r>
              <a:rPr lang="en-US" dirty="0"/>
              <a:t>And we publish the app publicly just by calling </a:t>
            </a:r>
            <a:r>
              <a:rPr lang="en-US" dirty="0" err="1"/>
              <a:t>demo.launch</a:t>
            </a:r>
            <a:r>
              <a:rPr lang="en-US" dirty="0"/>
              <a:t>().</a:t>
            </a:r>
            <a:br>
              <a:rPr lang="en-US" dirty="0"/>
            </a:br>
            <a:r>
              <a:rPr lang="en-US" dirty="0"/>
              <a:t>That single line is what turns the Python script into a shareable web application which is how I was able to host this on Hugging Face so that anyone can use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29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dirty="0"/>
              <a:t>Before I move into the live demo, here is the link where you can access the app yourself.</a:t>
            </a:r>
          </a:p>
          <a:p>
            <a:pPr algn="l"/>
            <a:r>
              <a:rPr lang="en-US" sz="1200" dirty="0"/>
              <a:t>If you'd like to try it, you can either visit the URL shown here or simply scan the QR code on the right.</a:t>
            </a:r>
          </a:p>
          <a:p>
            <a:pPr algn="l"/>
            <a:r>
              <a:rPr lang="en-US" sz="1200" dirty="0"/>
              <a:t>This will open the live </a:t>
            </a:r>
            <a:r>
              <a:rPr lang="en-US" sz="1200" dirty="0" err="1"/>
              <a:t>Gradio</a:t>
            </a:r>
            <a:r>
              <a:rPr lang="en-US" sz="1200" dirty="0"/>
              <a:t> app hosted on Hugging Face Spaces. </a:t>
            </a:r>
          </a:p>
          <a:p>
            <a:pPr algn="l"/>
            <a:endParaRPr lang="en-US" sz="1200"/>
          </a:p>
          <a:p>
            <a:pPr algn="l"/>
            <a:r>
              <a:rPr lang="en-US" sz="1200"/>
              <a:t>You’ll </a:t>
            </a:r>
            <a:r>
              <a:rPr lang="en-US" sz="1200" dirty="0"/>
              <a:t>be able to interact with the budget sliders, see the spending breakdown visual, and even download a personalized PDF summary.</a:t>
            </a:r>
          </a:p>
          <a:p>
            <a:pPr algn="l"/>
            <a:r>
              <a:rPr lang="en-US" sz="1200" dirty="0"/>
              <a:t>Feel free to follow along during the demonstration, or you can explore it later. </a:t>
            </a:r>
          </a:p>
          <a:p>
            <a:pPr algn="l"/>
            <a:r>
              <a:rPr lang="en-US" sz="1200" dirty="0"/>
              <a:t>It will stay available online after this presentation.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75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I'll start by entering a baseline income amount.</a:t>
            </a:r>
            <a:br>
              <a:rPr lang="en-US" dirty="0"/>
            </a:br>
            <a:r>
              <a:rPr lang="en-US" dirty="0"/>
              <a:t>Now if I increase rent or food significantly, notice how real-time savings changes.</a:t>
            </a:r>
            <a:br>
              <a:rPr lang="en-US" dirty="0"/>
            </a:br>
            <a:r>
              <a:rPr lang="en-US" dirty="0"/>
              <a:t>The pie chart updates visually, and this helps users understand proportion.</a:t>
            </a:r>
            <a:br>
              <a:rPr lang="en-US" dirty="0"/>
            </a:br>
            <a:r>
              <a:rPr lang="en-US" dirty="0"/>
              <a:t>And here, I can download a personalized PDF report, which makes this functional for real-life budgeting.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70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Gradio</a:t>
            </a:r>
            <a:r>
              <a:rPr lang="en-US" dirty="0"/>
              <a:t> helps bridge the gap between technical analysis and human understanding.</a:t>
            </a:r>
            <a:br>
              <a:rPr lang="en-US" dirty="0"/>
            </a:br>
            <a:r>
              <a:rPr lang="en-US" dirty="0"/>
              <a:t>This project illustrates how a simple Python workflow can become an interactive, shareable tool without web development knowledge.</a:t>
            </a:r>
          </a:p>
          <a:p>
            <a:endParaRPr lang="en-US" dirty="0"/>
          </a:p>
          <a:p>
            <a:r>
              <a:rPr lang="en-US" dirty="0"/>
              <a:t>Thank you!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39282-FCA8-1641-B279-B13CF4CF3C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97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63952" y="2057400"/>
            <a:ext cx="2794878" cy="6172200"/>
          </a:xfrm>
          <a:custGeom>
            <a:avLst/>
            <a:gdLst/>
            <a:ahLst/>
            <a:cxnLst/>
            <a:rect l="l" t="t" r="r" b="b"/>
            <a:pathLst>
              <a:path w="2794878" h="6172200">
                <a:moveTo>
                  <a:pt x="0" y="0"/>
                </a:moveTo>
                <a:lnTo>
                  <a:pt x="2794878" y="0"/>
                </a:lnTo>
                <a:lnTo>
                  <a:pt x="2794878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9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2286000" y="2057400"/>
            <a:ext cx="2788482" cy="6172200"/>
          </a:xfrm>
          <a:custGeom>
            <a:avLst/>
            <a:gdLst/>
            <a:ahLst/>
            <a:cxnLst/>
            <a:rect l="l" t="t" r="r" b="b"/>
            <a:pathLst>
              <a:path w="2788482" h="6172200">
                <a:moveTo>
                  <a:pt x="2788482" y="0"/>
                </a:moveTo>
                <a:lnTo>
                  <a:pt x="0" y="0"/>
                </a:lnTo>
                <a:lnTo>
                  <a:pt x="0" y="6172200"/>
                </a:lnTo>
                <a:lnTo>
                  <a:pt x="2788482" y="6172200"/>
                </a:lnTo>
                <a:lnTo>
                  <a:pt x="2788482" y="0"/>
                </a:lnTo>
                <a:close/>
              </a:path>
            </a:pathLst>
          </a:custGeom>
          <a:blipFill>
            <a:blip r:embed="rId3"/>
            <a:stretch>
              <a:fillRect l="-151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639728" y="2986991"/>
            <a:ext cx="9058979" cy="3135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5"/>
              </a:lnSpc>
            </a:pPr>
            <a:r>
              <a:rPr lang="en-US" sz="5854" spc="5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INTERACTIVE PERSONAL BUDGET PLANNER USING GRADIO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82270" y="7163858"/>
            <a:ext cx="6173894" cy="137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863" spc="28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Tooba E</a:t>
            </a:r>
          </a:p>
          <a:p>
            <a:pPr algn="ctr">
              <a:lnSpc>
                <a:spcPts val="3579"/>
              </a:lnSpc>
            </a:pPr>
            <a:r>
              <a:rPr lang="en-US" sz="2863" spc="28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OIM 7502  •  Spring 2025</a:t>
            </a:r>
          </a:p>
          <a:p>
            <a:pPr algn="ctr">
              <a:lnSpc>
                <a:spcPts val="3579"/>
              </a:lnSpc>
            </a:pPr>
            <a:endParaRPr lang="en-US" sz="2863" spc="286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790728" y="2162649"/>
            <a:ext cx="5915245" cy="6290085"/>
          </a:xfrm>
          <a:custGeom>
            <a:avLst/>
            <a:gdLst/>
            <a:ahLst/>
            <a:cxnLst/>
            <a:rect l="l" t="t" r="r" b="b"/>
            <a:pathLst>
              <a:path w="5915245" h="6290085">
                <a:moveTo>
                  <a:pt x="5915245" y="0"/>
                </a:moveTo>
                <a:lnTo>
                  <a:pt x="0" y="0"/>
                </a:lnTo>
                <a:lnTo>
                  <a:pt x="0" y="6290085"/>
                </a:lnTo>
                <a:lnTo>
                  <a:pt x="5915245" y="6290085"/>
                </a:lnTo>
                <a:lnTo>
                  <a:pt x="5915245" y="0"/>
                </a:lnTo>
                <a:close/>
              </a:path>
            </a:pathLst>
          </a:custGeom>
          <a:blipFill>
            <a:blip r:embed="rId3"/>
            <a:stretch>
              <a:fillRect b="-3021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0" y="2290429"/>
            <a:ext cx="6858000" cy="6052541"/>
            <a:chOff x="0" y="0"/>
            <a:chExt cx="2408296" cy="21254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125446"/>
            </a:xfrm>
            <a:custGeom>
              <a:avLst/>
              <a:gdLst/>
              <a:ahLst/>
              <a:cxnLst/>
              <a:rect l="l" t="t" r="r" b="b"/>
              <a:pathLst>
                <a:path w="2408296" h="2125446">
                  <a:moveTo>
                    <a:pt x="0" y="0"/>
                  </a:moveTo>
                  <a:lnTo>
                    <a:pt x="2408296" y="0"/>
                  </a:lnTo>
                  <a:lnTo>
                    <a:pt x="2408296" y="2125446"/>
                  </a:lnTo>
                  <a:lnTo>
                    <a:pt x="0" y="2125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08296" cy="2163546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49525" y="2813418"/>
            <a:ext cx="5954643" cy="3415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553" lvl="1" indent="-309277" algn="l">
              <a:lnSpc>
                <a:spcPts val="5472"/>
              </a:lnSpc>
              <a:buFont typeface="Arial"/>
              <a:buChar char="•"/>
            </a:pPr>
            <a:r>
              <a:rPr lang="en-US" sz="2864" spc="28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What is Gradio?</a:t>
            </a:r>
          </a:p>
          <a:p>
            <a:pPr marL="618553" lvl="1" indent="-309277" algn="l">
              <a:lnSpc>
                <a:spcPts val="5472"/>
              </a:lnSpc>
              <a:buFont typeface="Arial"/>
              <a:buChar char="•"/>
            </a:pPr>
            <a:r>
              <a:rPr lang="en-US" sz="2864" spc="28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 Case for a Data Scientist </a:t>
            </a:r>
          </a:p>
          <a:p>
            <a:pPr marL="618553" lvl="1" indent="-309277" algn="l">
              <a:lnSpc>
                <a:spcPts val="5472"/>
              </a:lnSpc>
              <a:buFont typeface="Arial"/>
              <a:buChar char="•"/>
            </a:pPr>
            <a:r>
              <a:rPr lang="en-US" sz="2864" spc="28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Comparison</a:t>
            </a:r>
          </a:p>
          <a:p>
            <a:pPr marL="618553" lvl="1" indent="-309277" algn="l">
              <a:lnSpc>
                <a:spcPts val="5472"/>
              </a:lnSpc>
              <a:buFont typeface="Arial"/>
              <a:buChar char="•"/>
            </a:pPr>
            <a:r>
              <a:rPr lang="en-US" sz="2864" spc="28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Strengths and Limitations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43883" y="2813418"/>
            <a:ext cx="5700712" cy="473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4"/>
              </a:lnSpc>
            </a:pPr>
            <a:r>
              <a:rPr lang="en-US" sz="2866" b="1" spc="286">
                <a:solidFill>
                  <a:srgbClr val="194A8D"/>
                </a:solidFill>
                <a:latin typeface="Arimo Bold"/>
                <a:ea typeface="Arimo Bold"/>
                <a:cs typeface="Arimo Bold"/>
                <a:sym typeface="Arimo Bold"/>
              </a:rPr>
              <a:t>Real-world Application:</a:t>
            </a:r>
          </a:p>
          <a:p>
            <a:pPr marL="618810" lvl="1" indent="-309405" algn="l">
              <a:lnSpc>
                <a:spcPts val="5474"/>
              </a:lnSpc>
              <a:buFont typeface="Arial"/>
              <a:buChar char="•"/>
            </a:pPr>
            <a:r>
              <a:rPr lang="en-US" sz="2866" spc="286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Creating a Personal Budget Planner</a:t>
            </a:r>
          </a:p>
          <a:p>
            <a:pPr marL="618810" lvl="1" indent="-309405" algn="l">
              <a:lnSpc>
                <a:spcPts val="5474"/>
              </a:lnSpc>
              <a:buFont typeface="Arial"/>
              <a:buChar char="•"/>
            </a:pPr>
            <a:r>
              <a:rPr lang="en-US" sz="2866" spc="286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Application Overview</a:t>
            </a:r>
          </a:p>
          <a:p>
            <a:pPr marL="618810" lvl="1" indent="-309405" algn="l">
              <a:lnSpc>
                <a:spcPts val="5474"/>
              </a:lnSpc>
              <a:buFont typeface="Arial"/>
              <a:buChar char="•"/>
            </a:pPr>
            <a:r>
              <a:rPr lang="en-US" sz="2866" spc="286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Coding Overview </a:t>
            </a:r>
          </a:p>
          <a:p>
            <a:pPr marL="618810" lvl="1" indent="-309405" algn="l">
              <a:lnSpc>
                <a:spcPts val="5474"/>
              </a:lnSpc>
              <a:buFont typeface="Arial"/>
              <a:buChar char="•"/>
            </a:pPr>
            <a:r>
              <a:rPr lang="en-US" sz="2866" spc="286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Access the App</a:t>
            </a:r>
          </a:p>
          <a:p>
            <a:pPr marL="618810" lvl="1" indent="-309405" algn="l">
              <a:lnSpc>
                <a:spcPts val="5474"/>
              </a:lnSpc>
              <a:buFont typeface="Arial"/>
              <a:buChar char="•"/>
            </a:pPr>
            <a:r>
              <a:rPr lang="en-US" sz="2866" spc="286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Live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89357" y="837307"/>
            <a:ext cx="5314811" cy="166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1"/>
              </a:lnSpc>
            </a:pPr>
            <a:r>
              <a:rPr lang="en-US" sz="6124" spc="6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15306866" y="-940462"/>
            <a:ext cx="2040673" cy="3921596"/>
          </a:xfrm>
          <a:custGeom>
            <a:avLst/>
            <a:gdLst/>
            <a:ahLst/>
            <a:cxnLst/>
            <a:rect l="l" t="t" r="r" b="b"/>
            <a:pathLst>
              <a:path w="2040673" h="3921596">
                <a:moveTo>
                  <a:pt x="0" y="3921596"/>
                </a:moveTo>
                <a:lnTo>
                  <a:pt x="2040672" y="3921596"/>
                </a:lnTo>
                <a:lnTo>
                  <a:pt x="2040672" y="0"/>
                </a:lnTo>
                <a:lnTo>
                  <a:pt x="0" y="0"/>
                </a:lnTo>
                <a:lnTo>
                  <a:pt x="0" y="3921596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776659" y="441181"/>
            <a:ext cx="11090188" cy="84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1"/>
              </a:lnSpc>
            </a:pPr>
            <a:r>
              <a:rPr lang="en-US" sz="6124" spc="6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GRADIO?</a:t>
            </a:r>
          </a:p>
        </p:txBody>
      </p:sp>
      <p:sp>
        <p:nvSpPr>
          <p:cNvPr id="4" name="Freeform 4"/>
          <p:cNvSpPr/>
          <p:nvPr/>
        </p:nvSpPr>
        <p:spPr>
          <a:xfrm rot="-5400000">
            <a:off x="940462" y="-940462"/>
            <a:ext cx="2040673" cy="3921596"/>
          </a:xfrm>
          <a:custGeom>
            <a:avLst/>
            <a:gdLst/>
            <a:ahLst/>
            <a:cxnLst/>
            <a:rect l="l" t="t" r="r" b="b"/>
            <a:pathLst>
              <a:path w="2040673" h="3921596">
                <a:moveTo>
                  <a:pt x="0" y="0"/>
                </a:moveTo>
                <a:lnTo>
                  <a:pt x="2040673" y="0"/>
                </a:lnTo>
                <a:lnTo>
                  <a:pt x="2040673" y="3921596"/>
                </a:lnTo>
                <a:lnTo>
                  <a:pt x="0" y="3921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835882" y="4731259"/>
            <a:ext cx="5542238" cy="4960846"/>
          </a:xfrm>
          <a:custGeom>
            <a:avLst/>
            <a:gdLst/>
            <a:ahLst/>
            <a:cxnLst/>
            <a:rect l="l" t="t" r="r" b="b"/>
            <a:pathLst>
              <a:path w="5542238" h="4960846">
                <a:moveTo>
                  <a:pt x="0" y="0"/>
                </a:moveTo>
                <a:lnTo>
                  <a:pt x="5542238" y="0"/>
                </a:lnTo>
                <a:lnTo>
                  <a:pt x="5542238" y="4960846"/>
                </a:lnTo>
                <a:lnTo>
                  <a:pt x="0" y="4960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622896" y="2435550"/>
            <a:ext cx="7698857" cy="6335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782" b="1" spc="2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Definition:</a:t>
            </a:r>
          </a:p>
          <a:p>
            <a:pPr algn="l">
              <a:lnSpc>
                <a:spcPts val="2948"/>
              </a:lnSpc>
            </a:pPr>
            <a:r>
              <a:rPr lang="en-US" sz="2782" spc="2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Gradio is a Python library that lets you quickly create interactive web-based user interfaces for machine learning models, data tools, and custom Python functions without needing web development skills.</a:t>
            </a:r>
          </a:p>
          <a:p>
            <a:pPr algn="l">
              <a:lnSpc>
                <a:spcPts val="2948"/>
              </a:lnSpc>
            </a:pPr>
            <a:endParaRPr lang="en-US" sz="2782" spc="278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948"/>
              </a:lnSpc>
            </a:pPr>
            <a:endParaRPr lang="en-US" sz="2782" spc="278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948"/>
              </a:lnSpc>
            </a:pPr>
            <a:endParaRPr lang="en-US" sz="2782" spc="278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948"/>
              </a:lnSpc>
            </a:pPr>
            <a:endParaRPr lang="en-US" sz="2782" spc="278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948"/>
              </a:lnSpc>
            </a:pPr>
            <a:endParaRPr lang="en-US" sz="2782" spc="278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948"/>
              </a:lnSpc>
            </a:pPr>
            <a:endParaRPr lang="en-US" sz="2782" spc="278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948"/>
              </a:lnSpc>
            </a:pPr>
            <a:r>
              <a:rPr lang="en-US" sz="2782" b="1" spc="2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Key Uses:</a:t>
            </a:r>
          </a:p>
          <a:p>
            <a:pPr marL="600635" lvl="1" indent="-300317" algn="l">
              <a:lnSpc>
                <a:spcPts val="2948"/>
              </a:lnSpc>
              <a:buFont typeface="Arial"/>
              <a:buChar char="•"/>
            </a:pPr>
            <a:r>
              <a:rPr lang="en-US" sz="2782" spc="2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Build demos for ML/AI models</a:t>
            </a:r>
          </a:p>
          <a:p>
            <a:pPr marL="600635" lvl="1" indent="-300317" algn="l">
              <a:lnSpc>
                <a:spcPts val="2948"/>
              </a:lnSpc>
              <a:buFont typeface="Arial"/>
              <a:buChar char="•"/>
            </a:pPr>
            <a:r>
              <a:rPr lang="en-US" sz="2782" spc="2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Create interactive data tools</a:t>
            </a:r>
          </a:p>
          <a:p>
            <a:pPr marL="600635" lvl="1" indent="-300317" algn="l">
              <a:lnSpc>
                <a:spcPts val="2948"/>
              </a:lnSpc>
              <a:buFont typeface="Arial"/>
              <a:buChar char="•"/>
            </a:pPr>
            <a:r>
              <a:rPr lang="en-US" sz="2782" spc="2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Deploy instantly to the 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16366" y="1170310"/>
            <a:ext cx="12769207" cy="5353433"/>
            <a:chOff x="0" y="0"/>
            <a:chExt cx="4140859" cy="173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0859" cy="1736037"/>
            </a:xfrm>
            <a:custGeom>
              <a:avLst/>
              <a:gdLst/>
              <a:ahLst/>
              <a:cxnLst/>
              <a:rect l="l" t="t" r="r" b="b"/>
              <a:pathLst>
                <a:path w="4140859" h="1736037">
                  <a:moveTo>
                    <a:pt x="0" y="0"/>
                  </a:moveTo>
                  <a:lnTo>
                    <a:pt x="4140859" y="0"/>
                  </a:lnTo>
                  <a:lnTo>
                    <a:pt x="4140859" y="1736037"/>
                  </a:lnTo>
                  <a:lnTo>
                    <a:pt x="0" y="17360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40859" cy="1774137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9989" y="6610342"/>
            <a:ext cx="5457160" cy="3676658"/>
          </a:xfrm>
          <a:custGeom>
            <a:avLst/>
            <a:gdLst/>
            <a:ahLst/>
            <a:cxnLst/>
            <a:rect l="l" t="t" r="r" b="b"/>
            <a:pathLst>
              <a:path w="5457160" h="3676658">
                <a:moveTo>
                  <a:pt x="0" y="0"/>
                </a:moveTo>
                <a:lnTo>
                  <a:pt x="5457161" y="0"/>
                </a:lnTo>
                <a:lnTo>
                  <a:pt x="5457161" y="3676658"/>
                </a:lnTo>
                <a:lnTo>
                  <a:pt x="0" y="3676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71" t="-459" r="-7371" b="-66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825590" y="165078"/>
            <a:ext cx="13405010" cy="804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23"/>
              </a:lnSpc>
              <a:spcBef>
                <a:spcPct val="0"/>
              </a:spcBef>
            </a:pPr>
            <a:r>
              <a:rPr lang="en-US" sz="465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WOULD A DATA SCIENTIST USE IT?</a:t>
            </a:r>
          </a:p>
        </p:txBody>
      </p:sp>
      <p:sp>
        <p:nvSpPr>
          <p:cNvPr id="7" name="Freeform 7"/>
          <p:cNvSpPr/>
          <p:nvPr/>
        </p:nvSpPr>
        <p:spPr>
          <a:xfrm rot="10800000">
            <a:off x="56839" y="-148044"/>
            <a:ext cx="2392486" cy="4300943"/>
          </a:xfrm>
          <a:custGeom>
            <a:avLst/>
            <a:gdLst/>
            <a:ahLst/>
            <a:cxnLst/>
            <a:rect l="l" t="t" r="r" b="b"/>
            <a:pathLst>
              <a:path w="2168324" h="4166905">
                <a:moveTo>
                  <a:pt x="0" y="0"/>
                </a:moveTo>
                <a:lnTo>
                  <a:pt x="2168324" y="0"/>
                </a:lnTo>
                <a:lnTo>
                  <a:pt x="2168324" y="4166906"/>
                </a:lnTo>
                <a:lnTo>
                  <a:pt x="0" y="4166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16200000" flipH="1">
            <a:off x="14829593" y="6731628"/>
            <a:ext cx="2168324" cy="5005104"/>
          </a:xfrm>
          <a:custGeom>
            <a:avLst/>
            <a:gdLst/>
            <a:ahLst/>
            <a:cxnLst/>
            <a:rect l="l" t="t" r="r" b="b"/>
            <a:pathLst>
              <a:path w="2168324" h="4166905">
                <a:moveTo>
                  <a:pt x="2168324" y="0"/>
                </a:moveTo>
                <a:lnTo>
                  <a:pt x="0" y="0"/>
                </a:lnTo>
                <a:lnTo>
                  <a:pt x="0" y="4166905"/>
                </a:lnTo>
                <a:lnTo>
                  <a:pt x="2168324" y="4166905"/>
                </a:lnTo>
                <a:lnTo>
                  <a:pt x="216832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859351" y="3847771"/>
            <a:ext cx="6457404" cy="4302246"/>
          </a:xfrm>
          <a:custGeom>
            <a:avLst/>
            <a:gdLst/>
            <a:ahLst/>
            <a:cxnLst/>
            <a:rect l="l" t="t" r="r" b="b"/>
            <a:pathLst>
              <a:path w="6457404" h="4302246">
                <a:moveTo>
                  <a:pt x="0" y="0"/>
                </a:moveTo>
                <a:lnTo>
                  <a:pt x="6457404" y="0"/>
                </a:lnTo>
                <a:lnTo>
                  <a:pt x="6457404" y="4302246"/>
                </a:lnTo>
                <a:lnTo>
                  <a:pt x="0" y="43022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825590" y="1210619"/>
            <a:ext cx="12183719" cy="5129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6138" lvl="1" indent="-353069" algn="l">
              <a:lnSpc>
                <a:spcPts val="4578"/>
              </a:lnSpc>
              <a:buFont typeface="Arial"/>
              <a:buChar char="•"/>
            </a:pPr>
            <a:r>
              <a:rPr lang="en-US" sz="327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Speeds up prototyping and experimentation</a:t>
            </a:r>
          </a:p>
          <a:p>
            <a:pPr marL="706138" lvl="1" indent="-353069" algn="l">
              <a:lnSpc>
                <a:spcPts val="4578"/>
              </a:lnSpc>
              <a:buFont typeface="Arial"/>
              <a:buChar char="•"/>
            </a:pPr>
            <a:r>
              <a:rPr lang="en-US" sz="327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Enables non-technical teams (i.e., managers, clients, and professors) to interact with models/tools through a User Interface</a:t>
            </a:r>
          </a:p>
          <a:p>
            <a:pPr marL="706138" lvl="1" indent="-353069" algn="l">
              <a:lnSpc>
                <a:spcPts val="4578"/>
              </a:lnSpc>
              <a:buFont typeface="Arial"/>
              <a:buChar char="•"/>
            </a:pPr>
            <a:r>
              <a:rPr lang="en-US" sz="327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Easy to share via URL → excellent for collaboration or portfolio projects</a:t>
            </a:r>
          </a:p>
          <a:p>
            <a:pPr marL="706138" lvl="1" indent="-353069" algn="l">
              <a:lnSpc>
                <a:spcPts val="4578"/>
              </a:lnSpc>
              <a:buFont typeface="Arial"/>
              <a:buChar char="•"/>
            </a:pPr>
            <a:r>
              <a:rPr lang="en-US" sz="327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Removes dependency on:</a:t>
            </a:r>
          </a:p>
          <a:p>
            <a:pPr marL="706138" lvl="1" indent="-353069" algn="l">
              <a:lnSpc>
                <a:spcPts val="4578"/>
              </a:lnSpc>
              <a:buAutoNum type="arabicPeriod"/>
            </a:pPr>
            <a:r>
              <a:rPr lang="en-US" sz="327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Front-end developers</a:t>
            </a:r>
          </a:p>
          <a:p>
            <a:pPr marL="706138" lvl="1" indent="-353069" algn="l">
              <a:lnSpc>
                <a:spcPts val="4578"/>
              </a:lnSpc>
              <a:buAutoNum type="arabicPeriod"/>
            </a:pPr>
            <a:r>
              <a:rPr lang="en-US" sz="327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Flask/Django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5301" y="-198469"/>
            <a:ext cx="19278600" cy="11110957"/>
            <a:chOff x="0" y="0"/>
            <a:chExt cx="5592469" cy="39246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2469" cy="3924631"/>
            </a:xfrm>
            <a:custGeom>
              <a:avLst/>
              <a:gdLst/>
              <a:ahLst/>
              <a:cxnLst/>
              <a:rect l="l" t="t" r="r" b="b"/>
              <a:pathLst>
                <a:path w="5592469" h="3924631">
                  <a:moveTo>
                    <a:pt x="0" y="0"/>
                  </a:moveTo>
                  <a:lnTo>
                    <a:pt x="5592469" y="0"/>
                  </a:lnTo>
                  <a:lnTo>
                    <a:pt x="5592469" y="3924631"/>
                  </a:lnTo>
                  <a:lnTo>
                    <a:pt x="0" y="3924631"/>
                  </a:ln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2469" cy="3962731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r>
                <a:rPr lang="en-US" sz="1424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91933" y="1966383"/>
            <a:ext cx="11904133" cy="6889750"/>
            <a:chOff x="0" y="0"/>
            <a:chExt cx="4180327" cy="24194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80327" cy="2419446"/>
            </a:xfrm>
            <a:custGeom>
              <a:avLst/>
              <a:gdLst/>
              <a:ahLst/>
              <a:cxnLst/>
              <a:rect l="l" t="t" r="r" b="b"/>
              <a:pathLst>
                <a:path w="4180327" h="2419446">
                  <a:moveTo>
                    <a:pt x="0" y="0"/>
                  </a:moveTo>
                  <a:lnTo>
                    <a:pt x="4180327" y="0"/>
                  </a:lnTo>
                  <a:lnTo>
                    <a:pt x="4180327" y="2419446"/>
                  </a:lnTo>
                  <a:lnTo>
                    <a:pt x="0" y="2419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80327" cy="2457546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307011"/>
              </p:ext>
            </p:extLst>
          </p:nvPr>
        </p:nvGraphicFramePr>
        <p:xfrm>
          <a:off x="3435350" y="2520181"/>
          <a:ext cx="11417299" cy="5760988"/>
        </p:xfrm>
        <a:graphic>
          <a:graphicData uri="http://schemas.openxmlformats.org/drawingml/2006/table">
            <a:tbl>
              <a:tblPr/>
              <a:tblGrid>
                <a:gridCol w="2015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3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3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5716">
                <a:tc>
                  <a:txBody>
                    <a:bodyPr/>
                    <a:lstStyle/>
                    <a:p>
                      <a:pPr algn="l">
                        <a:lnSpc>
                          <a:spcPts val="2953"/>
                        </a:lnSpc>
                        <a:defRPr/>
                      </a:pPr>
                      <a:r>
                        <a:rPr lang="en-US" sz="2109" b="1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Feature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1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Gradio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endParaRPr lang="en-US" sz="1100" dirty="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5903">
                <a:tc>
                  <a:txBody>
                    <a:bodyPr/>
                    <a:lstStyle/>
                    <a:p>
                      <a:pPr algn="l">
                        <a:lnSpc>
                          <a:spcPts val="2953"/>
                        </a:lnSpc>
                        <a:defRPr/>
                      </a:pPr>
                      <a:r>
                        <a:rPr lang="en-US" sz="2109" b="1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Best For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 dirty="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Model Demos + Tools</a:t>
                      </a:r>
                      <a:endParaRPr lang="en-US" sz="1600" dirty="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Full Analytics Apps</a:t>
                      </a:r>
                      <a:endParaRPr lang="en-US" sz="16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Custom Web Backends</a:t>
                      </a:r>
                      <a:endParaRPr lang="en-US" sz="16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4907">
                <a:tc>
                  <a:txBody>
                    <a:bodyPr/>
                    <a:lstStyle/>
                    <a:p>
                      <a:pPr algn="l">
                        <a:lnSpc>
                          <a:spcPts val="2953"/>
                        </a:lnSpc>
                        <a:defRPr/>
                      </a:pPr>
                      <a:r>
                        <a:rPr lang="en-US" sz="2109" b="1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Setup Difficulty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 dirty="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Very Easy</a:t>
                      </a:r>
                      <a:endParaRPr lang="en-US" sz="1600" dirty="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 dirty="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Easy</a:t>
                      </a:r>
                      <a:endParaRPr lang="en-US" sz="1600" dirty="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Hard</a:t>
                      </a:r>
                      <a:endParaRPr lang="en-US" sz="16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4907">
                <a:tc>
                  <a:txBody>
                    <a:bodyPr/>
                    <a:lstStyle/>
                    <a:p>
                      <a:pPr algn="l">
                        <a:lnSpc>
                          <a:spcPts val="2953"/>
                        </a:lnSpc>
                        <a:defRPr/>
                      </a:pPr>
                      <a:r>
                        <a:rPr lang="en-US" sz="2109" b="1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UI Code Needed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Minimal</a:t>
                      </a:r>
                      <a:endParaRPr lang="en-US" sz="16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 dirty="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Moderate</a:t>
                      </a:r>
                      <a:endParaRPr lang="en-US" sz="1600" dirty="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 dirty="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Full front-end required</a:t>
                      </a:r>
                      <a:endParaRPr lang="en-US" sz="1600" dirty="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9555">
                <a:tc>
                  <a:txBody>
                    <a:bodyPr/>
                    <a:lstStyle/>
                    <a:p>
                      <a:pPr algn="l">
                        <a:lnSpc>
                          <a:spcPts val="2953"/>
                        </a:lnSpc>
                        <a:defRPr/>
                      </a:pPr>
                      <a:r>
                        <a:rPr lang="en-US" sz="2109" b="1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Deployment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One-click (Hugging Face)</a:t>
                      </a:r>
                      <a:endParaRPr lang="en-US" sz="16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Requires server setup</a:t>
                      </a:r>
                      <a:endParaRPr lang="en-US" sz="160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800" dirty="0">
                          <a:gradFill>
                            <a:gsLst>
                              <a:gs pos="0">
                                <a:srgbClr val="4874B0">
                                  <a:alpha val="100000"/>
                                </a:srgbClr>
                              </a:gs>
                              <a:gs pos="100000">
                                <a:srgbClr val="053371">
                                  <a:alpha val="100000"/>
                                </a:srgbClr>
                              </a:gs>
                            </a:gsLst>
                            <a:path path="circle">
                              <a:fillToRect r="100000" b="100000"/>
                            </a:path>
                            <a:tileRect l="-100000" t="-10000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Requires full deployment setup</a:t>
                      </a:r>
                      <a:endParaRPr lang="en-US" sz="1600" dirty="0"/>
                    </a:p>
                  </a:txBody>
                  <a:tcPr marL="152400" marR="152400" marT="152400" marB="152400" anchor="ctr">
                    <a:lnL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A48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3081302" y="719190"/>
            <a:ext cx="13539561" cy="67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8"/>
              </a:lnSpc>
              <a:spcBef>
                <a:spcPct val="0"/>
              </a:spcBef>
            </a:pPr>
            <a:r>
              <a:rPr lang="en-US" sz="395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COMPARISON: GRADIO vs. STREAMLIT vs. FLASK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339483" y="6504628"/>
            <a:ext cx="2168324" cy="4166905"/>
          </a:xfrm>
          <a:custGeom>
            <a:avLst/>
            <a:gdLst/>
            <a:ahLst/>
            <a:cxnLst/>
            <a:rect l="l" t="t" r="r" b="b"/>
            <a:pathLst>
              <a:path w="2168324" h="4166905">
                <a:moveTo>
                  <a:pt x="0" y="0"/>
                </a:moveTo>
                <a:lnTo>
                  <a:pt x="2168323" y="0"/>
                </a:lnTo>
                <a:lnTo>
                  <a:pt x="2168323" y="4166905"/>
                </a:lnTo>
                <a:lnTo>
                  <a:pt x="0" y="4166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>
          <a:xfrm flipH="1">
            <a:off x="912978" y="800100"/>
            <a:ext cx="2168324" cy="4166905"/>
          </a:xfrm>
          <a:custGeom>
            <a:avLst/>
            <a:gdLst/>
            <a:ahLst/>
            <a:cxnLst/>
            <a:rect l="l" t="t" r="r" b="b"/>
            <a:pathLst>
              <a:path w="2168324" h="4166905">
                <a:moveTo>
                  <a:pt x="2168324" y="0"/>
                </a:moveTo>
                <a:lnTo>
                  <a:pt x="0" y="0"/>
                </a:lnTo>
                <a:lnTo>
                  <a:pt x="0" y="4166905"/>
                </a:lnTo>
                <a:lnTo>
                  <a:pt x="2168324" y="4166905"/>
                </a:lnTo>
                <a:lnTo>
                  <a:pt x="21683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564740" y="2629132"/>
            <a:ext cx="2693273" cy="853444"/>
          </a:xfrm>
          <a:custGeom>
            <a:avLst/>
            <a:gdLst/>
            <a:ahLst/>
            <a:cxnLst/>
            <a:rect l="l" t="t" r="r" b="b"/>
            <a:pathLst>
              <a:path w="3021064" h="944165">
                <a:moveTo>
                  <a:pt x="0" y="0"/>
                </a:moveTo>
                <a:lnTo>
                  <a:pt x="3021063" y="0"/>
                </a:lnTo>
                <a:lnTo>
                  <a:pt x="3021063" y="944165"/>
                </a:lnTo>
                <a:lnTo>
                  <a:pt x="0" y="9441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36" t="-11006" r="-5863" b="-55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995917" y="2614036"/>
            <a:ext cx="2168324" cy="858476"/>
          </a:xfrm>
          <a:custGeom>
            <a:avLst/>
            <a:gdLst/>
            <a:ahLst/>
            <a:cxnLst/>
            <a:rect l="l" t="t" r="r" b="b"/>
            <a:pathLst>
              <a:path w="2176815" h="988876">
                <a:moveTo>
                  <a:pt x="0" y="0"/>
                </a:moveTo>
                <a:lnTo>
                  <a:pt x="2176815" y="0"/>
                </a:lnTo>
                <a:lnTo>
                  <a:pt x="2176815" y="988876"/>
                </a:lnTo>
                <a:lnTo>
                  <a:pt x="0" y="988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683" b="-156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224141" y="2624100"/>
            <a:ext cx="2126797" cy="933132"/>
          </a:xfrm>
          <a:custGeom>
            <a:avLst/>
            <a:gdLst/>
            <a:ahLst/>
            <a:cxnLst/>
            <a:rect l="l" t="t" r="r" b="b"/>
            <a:pathLst>
              <a:path w="2126797" h="933132">
                <a:moveTo>
                  <a:pt x="0" y="0"/>
                </a:moveTo>
                <a:lnTo>
                  <a:pt x="2126797" y="0"/>
                </a:lnTo>
                <a:lnTo>
                  <a:pt x="2126797" y="933132"/>
                </a:lnTo>
                <a:lnTo>
                  <a:pt x="0" y="9331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42537">
            <a:off x="16007797" y="7245927"/>
            <a:ext cx="1904906" cy="3260467"/>
          </a:xfrm>
          <a:custGeom>
            <a:avLst/>
            <a:gdLst/>
            <a:ahLst/>
            <a:cxnLst/>
            <a:rect l="l" t="t" r="r" b="b"/>
            <a:pathLst>
              <a:path w="2168324" h="4166905">
                <a:moveTo>
                  <a:pt x="0" y="0"/>
                </a:moveTo>
                <a:lnTo>
                  <a:pt x="2168324" y="0"/>
                </a:lnTo>
                <a:lnTo>
                  <a:pt x="2168324" y="4166905"/>
                </a:lnTo>
                <a:lnTo>
                  <a:pt x="0" y="4166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642486" y="3743167"/>
            <a:ext cx="4417584" cy="4413098"/>
          </a:xfrm>
          <a:custGeom>
            <a:avLst/>
            <a:gdLst/>
            <a:ahLst/>
            <a:cxnLst/>
            <a:rect l="l" t="t" r="r" b="b"/>
            <a:pathLst>
              <a:path w="4417584" h="4512529">
                <a:moveTo>
                  <a:pt x="0" y="0"/>
                </a:moveTo>
                <a:lnTo>
                  <a:pt x="4417584" y="0"/>
                </a:lnTo>
                <a:lnTo>
                  <a:pt x="4417584" y="4512528"/>
                </a:lnTo>
                <a:lnTo>
                  <a:pt x="0" y="4512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04" t="-12640" b="-101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2060069" y="1325115"/>
            <a:ext cx="5008731" cy="5444904"/>
            <a:chOff x="0" y="0"/>
            <a:chExt cx="1180918" cy="14340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80918" cy="1434049"/>
            </a:xfrm>
            <a:custGeom>
              <a:avLst/>
              <a:gdLst/>
              <a:ahLst/>
              <a:cxnLst/>
              <a:rect l="l" t="t" r="r" b="b"/>
              <a:pathLst>
                <a:path w="1180918" h="1434049">
                  <a:moveTo>
                    <a:pt x="87411" y="0"/>
                  </a:moveTo>
                  <a:lnTo>
                    <a:pt x="1093506" y="0"/>
                  </a:lnTo>
                  <a:cubicBezTo>
                    <a:pt x="1116689" y="0"/>
                    <a:pt x="1138923" y="9209"/>
                    <a:pt x="1155316" y="25602"/>
                  </a:cubicBezTo>
                  <a:cubicBezTo>
                    <a:pt x="1171708" y="41995"/>
                    <a:pt x="1180918" y="64228"/>
                    <a:pt x="1180918" y="87411"/>
                  </a:cubicBezTo>
                  <a:lnTo>
                    <a:pt x="1180918" y="1346637"/>
                  </a:lnTo>
                  <a:cubicBezTo>
                    <a:pt x="1180918" y="1369820"/>
                    <a:pt x="1171708" y="1392054"/>
                    <a:pt x="1155316" y="1408446"/>
                  </a:cubicBezTo>
                  <a:cubicBezTo>
                    <a:pt x="1138923" y="1424839"/>
                    <a:pt x="1116689" y="1434049"/>
                    <a:pt x="1093506" y="1434049"/>
                  </a:cubicBezTo>
                  <a:lnTo>
                    <a:pt x="87411" y="1434049"/>
                  </a:lnTo>
                  <a:cubicBezTo>
                    <a:pt x="64228" y="1434049"/>
                    <a:pt x="41995" y="1424839"/>
                    <a:pt x="25602" y="1408446"/>
                  </a:cubicBezTo>
                  <a:cubicBezTo>
                    <a:pt x="9209" y="1392054"/>
                    <a:pt x="0" y="1369820"/>
                    <a:pt x="0" y="1346637"/>
                  </a:cubicBezTo>
                  <a:lnTo>
                    <a:pt x="0" y="87411"/>
                  </a:lnTo>
                  <a:cubicBezTo>
                    <a:pt x="0" y="64228"/>
                    <a:pt x="9209" y="41995"/>
                    <a:pt x="25602" y="25602"/>
                  </a:cubicBezTo>
                  <a:cubicBezTo>
                    <a:pt x="41995" y="9209"/>
                    <a:pt x="64228" y="0"/>
                    <a:pt x="8741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80918" cy="1472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196211" y="440602"/>
            <a:ext cx="12434444" cy="729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89"/>
              </a:lnSpc>
            </a:pPr>
            <a:r>
              <a:rPr lang="en-US" sz="5367" spc="53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STRENGTHS &amp; LIMITATIONS</a:t>
            </a:r>
          </a:p>
        </p:txBody>
      </p:sp>
      <p:sp>
        <p:nvSpPr>
          <p:cNvPr id="8" name="Freeform 8"/>
          <p:cNvSpPr/>
          <p:nvPr/>
        </p:nvSpPr>
        <p:spPr>
          <a:xfrm rot="3172536" flipH="1">
            <a:off x="563547" y="-175333"/>
            <a:ext cx="1311304" cy="3000896"/>
          </a:xfrm>
          <a:custGeom>
            <a:avLst/>
            <a:gdLst/>
            <a:ahLst/>
            <a:cxnLst/>
            <a:rect l="l" t="t" r="r" b="b"/>
            <a:pathLst>
              <a:path w="2168324" h="4166905">
                <a:moveTo>
                  <a:pt x="2168324" y="0"/>
                </a:moveTo>
                <a:lnTo>
                  <a:pt x="0" y="0"/>
                </a:lnTo>
                <a:lnTo>
                  <a:pt x="0" y="4166905"/>
                </a:lnTo>
                <a:lnTo>
                  <a:pt x="2168324" y="4166905"/>
                </a:lnTo>
                <a:lnTo>
                  <a:pt x="21683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2341544" y="2532685"/>
            <a:ext cx="5300941" cy="7410747"/>
            <a:chOff x="0" y="0"/>
            <a:chExt cx="1396133" cy="19518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96133" cy="1951802"/>
            </a:xfrm>
            <a:custGeom>
              <a:avLst/>
              <a:gdLst/>
              <a:ahLst/>
              <a:cxnLst/>
              <a:rect l="l" t="t" r="r" b="b"/>
              <a:pathLst>
                <a:path w="1396133" h="1951802">
                  <a:moveTo>
                    <a:pt x="73937" y="0"/>
                  </a:moveTo>
                  <a:lnTo>
                    <a:pt x="1322196" y="0"/>
                  </a:lnTo>
                  <a:cubicBezTo>
                    <a:pt x="1363030" y="0"/>
                    <a:pt x="1396133" y="33103"/>
                    <a:pt x="1396133" y="73937"/>
                  </a:cubicBezTo>
                  <a:lnTo>
                    <a:pt x="1396133" y="1877865"/>
                  </a:lnTo>
                  <a:cubicBezTo>
                    <a:pt x="1396133" y="1897474"/>
                    <a:pt x="1388343" y="1916280"/>
                    <a:pt x="1374477" y="1930146"/>
                  </a:cubicBezTo>
                  <a:cubicBezTo>
                    <a:pt x="1360611" y="1944012"/>
                    <a:pt x="1341805" y="1951802"/>
                    <a:pt x="1322196" y="1951802"/>
                  </a:cubicBezTo>
                  <a:lnTo>
                    <a:pt x="73937" y="1951802"/>
                  </a:lnTo>
                  <a:cubicBezTo>
                    <a:pt x="33103" y="1951802"/>
                    <a:pt x="0" y="1918699"/>
                    <a:pt x="0" y="1877865"/>
                  </a:cubicBezTo>
                  <a:lnTo>
                    <a:pt x="0" y="73937"/>
                  </a:lnTo>
                  <a:cubicBezTo>
                    <a:pt x="0" y="33103"/>
                    <a:pt x="33103" y="0"/>
                    <a:pt x="739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96133" cy="1989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642485" y="3743167"/>
            <a:ext cx="4417584" cy="4413097"/>
          </a:xfrm>
          <a:custGeom>
            <a:avLst/>
            <a:gdLst/>
            <a:ahLst/>
            <a:cxnLst/>
            <a:rect l="l" t="t" r="r" b="b"/>
            <a:pathLst>
              <a:path w="4313664" h="4313664">
                <a:moveTo>
                  <a:pt x="0" y="0"/>
                </a:moveTo>
                <a:lnTo>
                  <a:pt x="4313665" y="0"/>
                </a:lnTo>
                <a:lnTo>
                  <a:pt x="4313665" y="4313664"/>
                </a:lnTo>
                <a:lnTo>
                  <a:pt x="0" y="43136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157311" y="1456246"/>
            <a:ext cx="4145370" cy="492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0"/>
              </a:lnSpc>
            </a:pPr>
            <a:endParaRPr dirty="0"/>
          </a:p>
          <a:p>
            <a:pPr marL="751073" lvl="1" indent="-375537" algn="l">
              <a:lnSpc>
                <a:spcPts val="4870"/>
              </a:lnSpc>
              <a:buFont typeface="Arial"/>
              <a:buChar char="•"/>
            </a:pPr>
            <a:r>
              <a:rPr lang="en-US" sz="3478" dirty="0">
                <a:gradFill>
                  <a:gsLst>
                    <a:gs pos="0">
                      <a:srgbClr val="4874B0">
                        <a:alpha val="100000"/>
                      </a:srgbClr>
                    </a:gs>
                    <a:gs pos="100000">
                      <a:srgbClr val="053371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mo"/>
                <a:ea typeface="Arimo"/>
                <a:cs typeface="Arimo"/>
                <a:sym typeface="Arimo"/>
              </a:rPr>
              <a:t>Easy to build and deploy</a:t>
            </a:r>
          </a:p>
          <a:p>
            <a:pPr marL="751073" lvl="1" indent="-375537" algn="l">
              <a:lnSpc>
                <a:spcPts val="4870"/>
              </a:lnSpc>
              <a:buFont typeface="Arial"/>
              <a:buChar char="•"/>
            </a:pPr>
            <a:r>
              <a:rPr lang="en-US" sz="3478" dirty="0">
                <a:gradFill>
                  <a:gsLst>
                    <a:gs pos="0">
                      <a:srgbClr val="4874B0">
                        <a:alpha val="100000"/>
                      </a:srgbClr>
                    </a:gs>
                    <a:gs pos="100000">
                      <a:srgbClr val="053371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mo"/>
                <a:ea typeface="Arimo"/>
                <a:cs typeface="Arimo"/>
                <a:sym typeface="Arimo"/>
              </a:rPr>
              <a:t>Very fast feedback loops</a:t>
            </a:r>
          </a:p>
          <a:p>
            <a:pPr marL="751073" lvl="1" indent="-375537" algn="l">
              <a:lnSpc>
                <a:spcPts val="4870"/>
              </a:lnSpc>
              <a:buFont typeface="Arial"/>
              <a:buChar char="•"/>
            </a:pPr>
            <a:r>
              <a:rPr lang="en-US" sz="3478" dirty="0">
                <a:gradFill>
                  <a:gsLst>
                    <a:gs pos="0">
                      <a:srgbClr val="4874B0">
                        <a:alpha val="100000"/>
                      </a:srgbClr>
                    </a:gs>
                    <a:gs pos="100000">
                      <a:srgbClr val="053371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mo"/>
                <a:ea typeface="Arimo"/>
                <a:cs typeface="Arimo"/>
                <a:sym typeface="Arimo"/>
              </a:rPr>
              <a:t>Works well with ML/Data tools</a:t>
            </a:r>
          </a:p>
          <a:p>
            <a:pPr algn="l">
              <a:lnSpc>
                <a:spcPts val="4870"/>
              </a:lnSpc>
              <a:spcBef>
                <a:spcPct val="0"/>
              </a:spcBef>
            </a:pPr>
            <a:endParaRPr lang="en-US" sz="3478" dirty="0">
              <a:gradFill>
                <a:gsLst>
                  <a:gs pos="0">
                    <a:srgbClr val="4874B0">
                      <a:alpha val="100000"/>
                    </a:srgbClr>
                  </a:gs>
                  <a:gs pos="100000">
                    <a:srgbClr val="053371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467663" y="2977939"/>
            <a:ext cx="4459058" cy="652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5"/>
              </a:lnSpc>
              <a:spcBef>
                <a:spcPct val="0"/>
              </a:spcBef>
            </a:pPr>
            <a:endParaRPr dirty="0"/>
          </a:p>
          <a:p>
            <a:pPr marL="730218" lvl="1" indent="-365109" algn="l">
              <a:lnSpc>
                <a:spcPts val="4735"/>
              </a:lnSpc>
              <a:spcBef>
                <a:spcPct val="0"/>
              </a:spcBef>
              <a:buFont typeface="Arial"/>
              <a:buChar char="•"/>
            </a:pPr>
            <a:r>
              <a:rPr lang="en-US" sz="3382" dirty="0">
                <a:gradFill>
                  <a:gsLst>
                    <a:gs pos="0">
                      <a:srgbClr val="4874B0">
                        <a:alpha val="100000"/>
                      </a:srgbClr>
                    </a:gs>
                    <a:gs pos="100000">
                      <a:srgbClr val="053371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mo"/>
                <a:ea typeface="Arimo"/>
                <a:cs typeface="Arimo"/>
                <a:sym typeface="Arimo"/>
              </a:rPr>
              <a:t>Not meant for large business-scale apps</a:t>
            </a:r>
          </a:p>
          <a:p>
            <a:pPr marL="730218" lvl="1" indent="-365109" algn="l">
              <a:lnSpc>
                <a:spcPts val="4735"/>
              </a:lnSpc>
              <a:spcBef>
                <a:spcPct val="0"/>
              </a:spcBef>
              <a:buFont typeface="Arial"/>
              <a:buChar char="•"/>
            </a:pPr>
            <a:r>
              <a:rPr lang="en-US" sz="3382" dirty="0">
                <a:gradFill>
                  <a:gsLst>
                    <a:gs pos="0">
                      <a:srgbClr val="4874B0">
                        <a:alpha val="100000"/>
                      </a:srgbClr>
                    </a:gs>
                    <a:gs pos="100000">
                      <a:srgbClr val="053371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mo"/>
                <a:ea typeface="Arimo"/>
                <a:cs typeface="Arimo"/>
                <a:sym typeface="Arimo"/>
              </a:rPr>
              <a:t>Styling customization limited</a:t>
            </a:r>
          </a:p>
          <a:p>
            <a:pPr marL="730218" lvl="1" indent="-365109" algn="l">
              <a:lnSpc>
                <a:spcPts val="4735"/>
              </a:lnSpc>
              <a:spcBef>
                <a:spcPct val="0"/>
              </a:spcBef>
              <a:buFont typeface="Arial"/>
              <a:buChar char="•"/>
            </a:pPr>
            <a:r>
              <a:rPr lang="en-US" sz="3382" dirty="0">
                <a:gradFill>
                  <a:gsLst>
                    <a:gs pos="0">
                      <a:srgbClr val="4874B0">
                        <a:alpha val="100000"/>
                      </a:srgbClr>
                    </a:gs>
                    <a:gs pos="100000">
                      <a:srgbClr val="053371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rimo"/>
                <a:ea typeface="Arimo"/>
                <a:cs typeface="Arimo"/>
                <a:sym typeface="Arimo"/>
              </a:rPr>
              <a:t>Requires internet for sharing externally</a:t>
            </a:r>
          </a:p>
          <a:p>
            <a:pPr algn="ctr">
              <a:lnSpc>
                <a:spcPts val="4735"/>
              </a:lnSpc>
              <a:spcBef>
                <a:spcPct val="0"/>
              </a:spcBef>
            </a:pPr>
            <a:endParaRPr lang="en-US" sz="3382" dirty="0">
              <a:gradFill>
                <a:gsLst>
                  <a:gs pos="0">
                    <a:srgbClr val="4874B0">
                      <a:alpha val="100000"/>
                    </a:srgbClr>
                  </a:gs>
                  <a:gs pos="100000">
                    <a:srgbClr val="053371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89094" y="2754809"/>
            <a:ext cx="2168324" cy="4166905"/>
          </a:xfrm>
          <a:custGeom>
            <a:avLst/>
            <a:gdLst/>
            <a:ahLst/>
            <a:cxnLst/>
            <a:rect l="l" t="t" r="r" b="b"/>
            <a:pathLst>
              <a:path w="2168324" h="4166905">
                <a:moveTo>
                  <a:pt x="0" y="0"/>
                </a:moveTo>
                <a:lnTo>
                  <a:pt x="2168324" y="0"/>
                </a:lnTo>
                <a:lnTo>
                  <a:pt x="2168324" y="4166905"/>
                </a:lnTo>
                <a:lnTo>
                  <a:pt x="0" y="4166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98906" y="428003"/>
            <a:ext cx="11090188" cy="3309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1"/>
              </a:lnSpc>
            </a:pPr>
            <a:r>
              <a:rPr lang="en-US" sz="6124" spc="6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CREATING A PERSONAL BUDGET PLANNER WITH GRADIO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430582" y="671356"/>
            <a:ext cx="2168324" cy="4166905"/>
          </a:xfrm>
          <a:custGeom>
            <a:avLst/>
            <a:gdLst/>
            <a:ahLst/>
            <a:cxnLst/>
            <a:rect l="l" t="t" r="r" b="b"/>
            <a:pathLst>
              <a:path w="2168324" h="4166905">
                <a:moveTo>
                  <a:pt x="2168324" y="0"/>
                </a:moveTo>
                <a:lnTo>
                  <a:pt x="0" y="0"/>
                </a:lnTo>
                <a:lnTo>
                  <a:pt x="0" y="4166905"/>
                </a:lnTo>
                <a:lnTo>
                  <a:pt x="2168324" y="4166905"/>
                </a:lnTo>
                <a:lnTo>
                  <a:pt x="21683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635562" y="4076700"/>
            <a:ext cx="9016876" cy="5420531"/>
          </a:xfrm>
          <a:custGeom>
            <a:avLst/>
            <a:gdLst/>
            <a:ahLst/>
            <a:cxnLst/>
            <a:rect l="l" t="t" r="r" b="b"/>
            <a:pathLst>
              <a:path w="8432551" h="4532496">
                <a:moveTo>
                  <a:pt x="0" y="0"/>
                </a:moveTo>
                <a:lnTo>
                  <a:pt x="8432550" y="0"/>
                </a:lnTo>
                <a:lnTo>
                  <a:pt x="8432550" y="4532495"/>
                </a:lnTo>
                <a:lnTo>
                  <a:pt x="0" y="4532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19676" y="647700"/>
            <a:ext cx="2168324" cy="4595895"/>
          </a:xfrm>
          <a:custGeom>
            <a:avLst/>
            <a:gdLst/>
            <a:ahLst/>
            <a:cxnLst/>
            <a:rect l="l" t="t" r="r" b="b"/>
            <a:pathLst>
              <a:path w="2168324" h="4166905">
                <a:moveTo>
                  <a:pt x="0" y="0"/>
                </a:moveTo>
                <a:lnTo>
                  <a:pt x="2168324" y="0"/>
                </a:lnTo>
                <a:lnTo>
                  <a:pt x="2168324" y="4166905"/>
                </a:lnTo>
                <a:lnTo>
                  <a:pt x="0" y="4166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28600" y="452248"/>
            <a:ext cx="13029821" cy="860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1"/>
              </a:lnSpc>
            </a:pPr>
            <a:r>
              <a:rPr lang="en-US" sz="6124" spc="612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APPLICATION OVERVIEW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7209" y="5753100"/>
            <a:ext cx="2168324" cy="4543245"/>
          </a:xfrm>
          <a:custGeom>
            <a:avLst/>
            <a:gdLst/>
            <a:ahLst/>
            <a:cxnLst/>
            <a:rect l="l" t="t" r="r" b="b"/>
            <a:pathLst>
              <a:path w="2168324" h="4166905">
                <a:moveTo>
                  <a:pt x="2168324" y="0"/>
                </a:moveTo>
                <a:lnTo>
                  <a:pt x="0" y="0"/>
                </a:lnTo>
                <a:lnTo>
                  <a:pt x="0" y="4166905"/>
                </a:lnTo>
                <a:lnTo>
                  <a:pt x="2168324" y="4166905"/>
                </a:lnTo>
                <a:lnTo>
                  <a:pt x="21683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138415" y="1591835"/>
            <a:ext cx="9418770" cy="474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855" lvl="1" indent="-372427" algn="l">
              <a:lnSpc>
                <a:spcPts val="4829"/>
              </a:lnSpc>
              <a:buFont typeface="Arial"/>
              <a:buChar char="•"/>
            </a:pPr>
            <a:r>
              <a:rPr lang="en-US" sz="344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Built in Python using </a:t>
            </a:r>
            <a:r>
              <a:rPr lang="en-US" sz="344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Gradio</a:t>
            </a:r>
            <a:endParaRPr lang="en-US" sz="3449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744855" lvl="1" indent="-372427" algn="l">
              <a:lnSpc>
                <a:spcPts val="4829"/>
              </a:lnSpc>
              <a:buFont typeface="Arial"/>
              <a:buChar char="•"/>
            </a:pPr>
            <a:r>
              <a:rPr lang="en-US" sz="344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User inputs in key spending categories: monthly income, housing/rent, food, transportation, and other expenses</a:t>
            </a:r>
          </a:p>
          <a:p>
            <a:pPr marL="744855" lvl="1" indent="-372427" algn="l">
              <a:lnSpc>
                <a:spcPts val="4829"/>
              </a:lnSpc>
              <a:buFont typeface="Arial"/>
              <a:buChar char="•"/>
            </a:pPr>
            <a:r>
              <a:rPr lang="en-US" sz="344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Coded calculation in Python automatically displays the savings and shows breakdown of monthly spending</a:t>
            </a:r>
          </a:p>
          <a:p>
            <a:pPr algn="ctr">
              <a:lnSpc>
                <a:spcPts val="3567"/>
              </a:lnSpc>
              <a:spcBef>
                <a:spcPct val="0"/>
              </a:spcBef>
            </a:pPr>
            <a:endParaRPr lang="en-US" sz="3449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9143999" y="5522435"/>
            <a:ext cx="9126791" cy="4762422"/>
          </a:xfrm>
          <a:custGeom>
            <a:avLst/>
            <a:gdLst/>
            <a:ahLst/>
            <a:cxnLst/>
            <a:rect l="l" t="t" r="r" b="b"/>
            <a:pathLst>
              <a:path w="6858000" h="3952955">
                <a:moveTo>
                  <a:pt x="0" y="0"/>
                </a:moveTo>
                <a:lnTo>
                  <a:pt x="6858000" y="0"/>
                </a:lnTo>
                <a:lnTo>
                  <a:pt x="6858000" y="3952955"/>
                </a:lnTo>
                <a:lnTo>
                  <a:pt x="0" y="3952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65" r="-47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514744" y="7296913"/>
            <a:ext cx="6493983" cy="239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70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You can:</a:t>
            </a:r>
          </a:p>
          <a:p>
            <a:pPr marL="584912" lvl="1" indent="-292456" algn="l">
              <a:lnSpc>
                <a:spcPts val="3792"/>
              </a:lnSpc>
              <a:buFont typeface="Arial"/>
              <a:buChar char="•"/>
            </a:pPr>
            <a:r>
              <a:rPr lang="en-US" sz="270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Interact with budget sliders</a:t>
            </a:r>
          </a:p>
          <a:p>
            <a:pPr marL="584912" lvl="1" indent="-292456" algn="l">
              <a:lnSpc>
                <a:spcPts val="3792"/>
              </a:lnSpc>
              <a:buFont typeface="Arial"/>
              <a:buChar char="•"/>
            </a:pPr>
            <a:r>
              <a:rPr lang="en-US" sz="270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Save/download your results as a PDF</a:t>
            </a:r>
          </a:p>
          <a:p>
            <a:pPr marL="584912" lvl="1" indent="-292456" algn="l">
              <a:lnSpc>
                <a:spcPts val="3792"/>
              </a:lnSpc>
              <a:buFont typeface="Arial"/>
              <a:buChar char="•"/>
            </a:pPr>
            <a:r>
              <a:rPr lang="en-US" sz="270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Have a visual of spending habits in pie chart 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63415" y="1904824"/>
            <a:ext cx="6041322" cy="1910366"/>
            <a:chOff x="0" y="0"/>
            <a:chExt cx="2445866" cy="7734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5866" cy="773423"/>
            </a:xfrm>
            <a:custGeom>
              <a:avLst/>
              <a:gdLst/>
              <a:ahLst/>
              <a:cxnLst/>
              <a:rect l="l" t="t" r="r" b="b"/>
              <a:pathLst>
                <a:path w="2445866" h="773423">
                  <a:moveTo>
                    <a:pt x="0" y="0"/>
                  </a:moveTo>
                  <a:lnTo>
                    <a:pt x="2445866" y="0"/>
                  </a:lnTo>
                  <a:lnTo>
                    <a:pt x="2445866" y="773423"/>
                  </a:lnTo>
                  <a:lnTo>
                    <a:pt x="0" y="773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5866" cy="811523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40232" y="1406713"/>
            <a:ext cx="1298962" cy="12989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22071" y="4520676"/>
            <a:ext cx="5661278" cy="1655930"/>
            <a:chOff x="0" y="0"/>
            <a:chExt cx="2292003" cy="6704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2003" cy="670413"/>
            </a:xfrm>
            <a:custGeom>
              <a:avLst/>
              <a:gdLst/>
              <a:ahLst/>
              <a:cxnLst/>
              <a:rect l="l" t="t" r="r" b="b"/>
              <a:pathLst>
                <a:path w="2292003" h="670413">
                  <a:moveTo>
                    <a:pt x="0" y="0"/>
                  </a:moveTo>
                  <a:lnTo>
                    <a:pt x="2292003" y="0"/>
                  </a:lnTo>
                  <a:lnTo>
                    <a:pt x="2292003" y="670413"/>
                  </a:lnTo>
                  <a:lnTo>
                    <a:pt x="0" y="670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92003" cy="708513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83047" y="7429171"/>
            <a:ext cx="6021690" cy="1603971"/>
            <a:chOff x="0" y="0"/>
            <a:chExt cx="2437918" cy="6493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7918" cy="649377"/>
            </a:xfrm>
            <a:custGeom>
              <a:avLst/>
              <a:gdLst/>
              <a:ahLst/>
              <a:cxnLst/>
              <a:rect l="l" t="t" r="r" b="b"/>
              <a:pathLst>
                <a:path w="2437918" h="649377">
                  <a:moveTo>
                    <a:pt x="0" y="0"/>
                  </a:moveTo>
                  <a:lnTo>
                    <a:pt x="2437918" y="0"/>
                  </a:lnTo>
                  <a:lnTo>
                    <a:pt x="2437918" y="649377"/>
                  </a:lnTo>
                  <a:lnTo>
                    <a:pt x="0" y="649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437918" cy="687477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72590" y="4240198"/>
            <a:ext cx="1298962" cy="12989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72828" y="6779690"/>
            <a:ext cx="1298962" cy="12989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9910992" y="1638895"/>
            <a:ext cx="6224501" cy="2935162"/>
          </a:xfrm>
          <a:custGeom>
            <a:avLst/>
            <a:gdLst/>
            <a:ahLst/>
            <a:cxnLst/>
            <a:rect l="l" t="t" r="r" b="b"/>
            <a:pathLst>
              <a:path w="6224501" h="2935162">
                <a:moveTo>
                  <a:pt x="0" y="0"/>
                </a:moveTo>
                <a:lnTo>
                  <a:pt x="6224500" y="0"/>
                </a:lnTo>
                <a:lnTo>
                  <a:pt x="6224500" y="2935162"/>
                </a:lnTo>
                <a:lnTo>
                  <a:pt x="0" y="2935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7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9183039" y="4978974"/>
            <a:ext cx="6631909" cy="1334566"/>
          </a:xfrm>
          <a:custGeom>
            <a:avLst/>
            <a:gdLst/>
            <a:ahLst/>
            <a:cxnLst/>
            <a:rect l="l" t="t" r="r" b="b"/>
            <a:pathLst>
              <a:path w="6631909" h="1334566">
                <a:moveTo>
                  <a:pt x="0" y="0"/>
                </a:moveTo>
                <a:lnTo>
                  <a:pt x="6631909" y="0"/>
                </a:lnTo>
                <a:lnTo>
                  <a:pt x="6631909" y="1334566"/>
                </a:lnTo>
                <a:lnTo>
                  <a:pt x="0" y="1334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7708" b="-117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590448" y="7635927"/>
            <a:ext cx="6224501" cy="2450897"/>
          </a:xfrm>
          <a:custGeom>
            <a:avLst/>
            <a:gdLst/>
            <a:ahLst/>
            <a:cxnLst/>
            <a:rect l="l" t="t" r="r" b="b"/>
            <a:pathLst>
              <a:path w="6224501" h="2450897">
                <a:moveTo>
                  <a:pt x="0" y="0"/>
                </a:moveTo>
                <a:lnTo>
                  <a:pt x="6224500" y="0"/>
                </a:lnTo>
                <a:lnTo>
                  <a:pt x="6224500" y="2450897"/>
                </a:lnTo>
                <a:lnTo>
                  <a:pt x="0" y="2450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2572590" y="466229"/>
            <a:ext cx="10076610" cy="860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91"/>
              </a:lnSpc>
            </a:pPr>
            <a:r>
              <a:rPr lang="en-US" sz="6124" spc="612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CODING OVERVIEW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33013" y="1814861"/>
            <a:ext cx="1259700" cy="55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4"/>
              </a:lnSpc>
            </a:pPr>
            <a:r>
              <a:rPr lang="en-US" sz="3985" spc="398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32289" y="2086638"/>
            <a:ext cx="4892008" cy="1348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430" lvl="1" indent="-165215" algn="l">
              <a:lnSpc>
                <a:spcPts val="2142"/>
              </a:lnSpc>
              <a:buFont typeface="Arial"/>
              <a:buChar char="•"/>
            </a:pPr>
            <a:r>
              <a:rPr lang="en-US" sz="1530" dirty="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This is the core function that calculates the budget</a:t>
            </a:r>
          </a:p>
          <a:p>
            <a:pPr marL="330430" lvl="1" indent="-165215" algn="l">
              <a:lnSpc>
                <a:spcPts val="2142"/>
              </a:lnSpc>
              <a:buFont typeface="Arial"/>
              <a:buChar char="•"/>
            </a:pPr>
            <a:r>
              <a:rPr lang="en-US" sz="1530" dirty="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User inputs their income and expenses</a:t>
            </a:r>
          </a:p>
          <a:p>
            <a:pPr marL="330430" lvl="1" indent="-165215" algn="l">
              <a:lnSpc>
                <a:spcPts val="2142"/>
              </a:lnSpc>
              <a:buFont typeface="Arial"/>
              <a:buChar char="•"/>
            </a:pPr>
            <a:r>
              <a:rPr lang="en-US" sz="1530" dirty="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We sum expenses, subtract to get savings, and then classify whether they are over budget, break-even, or saving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95854" y="4755696"/>
            <a:ext cx="4564878" cy="125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8334" lvl="1" indent="-154167" algn="l">
              <a:lnSpc>
                <a:spcPts val="1999"/>
              </a:lnSpc>
              <a:buFont typeface="Arial"/>
              <a:buChar char="•"/>
            </a:pPr>
            <a:r>
              <a:rPr lang="en-US" sz="1428" dirty="0" err="1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Gradio</a:t>
            </a:r>
            <a:r>
              <a:rPr lang="en-US" sz="1428" dirty="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 connects core function to sliders and text output boxes, making it interactive</a:t>
            </a:r>
          </a:p>
          <a:p>
            <a:pPr marL="308334" lvl="1" indent="-154167" algn="l">
              <a:lnSpc>
                <a:spcPts val="1999"/>
              </a:lnSpc>
              <a:buFont typeface="Arial"/>
              <a:buChar char="•"/>
            </a:pPr>
            <a:r>
              <a:rPr lang="en-US" sz="1428" dirty="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The textbox displays a text summary of savings and budget status</a:t>
            </a:r>
          </a:p>
          <a:p>
            <a:pPr marL="308334" lvl="1" indent="-154167" algn="l">
              <a:lnSpc>
                <a:spcPts val="1999"/>
              </a:lnSpc>
              <a:buFont typeface="Arial"/>
              <a:buChar char="•"/>
            </a:pPr>
            <a:r>
              <a:rPr lang="en-US" sz="1428" dirty="0" err="1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Gradio</a:t>
            </a:r>
            <a:r>
              <a:rPr lang="en-US" sz="1428" dirty="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 generates interface automatically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27532" y="7667187"/>
            <a:ext cx="5101522" cy="108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430" lvl="1" indent="-165215" algn="l">
              <a:lnSpc>
                <a:spcPts val="2142"/>
              </a:lnSpc>
              <a:buFont typeface="Arial"/>
              <a:buChar char="•"/>
            </a:pPr>
            <a:r>
              <a:rPr lang="en-US" sz="153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When user clicks button, function runs using those input values, and shows results</a:t>
            </a:r>
          </a:p>
          <a:p>
            <a:pPr marL="330430" lvl="1" indent="-165215" algn="l">
              <a:lnSpc>
                <a:spcPts val="2142"/>
              </a:lnSpc>
              <a:buFont typeface="Arial"/>
              <a:buChar char="•"/>
            </a:pPr>
            <a:r>
              <a:rPr lang="en-US" sz="153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Call demo.launch()</a:t>
            </a:r>
          </a:p>
          <a:p>
            <a:pPr marL="330430" lvl="1" indent="-165215" algn="l">
              <a:lnSpc>
                <a:spcPts val="2142"/>
              </a:lnSpc>
              <a:buFont typeface="Arial"/>
              <a:buChar char="•"/>
            </a:pPr>
            <a:r>
              <a:rPr lang="en-US" sz="153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That’s what creates the live web app you see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72590" y="4672137"/>
            <a:ext cx="1259700" cy="55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4"/>
              </a:lnSpc>
            </a:pPr>
            <a:r>
              <a:rPr lang="en-US" sz="3985" spc="398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92460" y="7244562"/>
            <a:ext cx="1259700" cy="55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4"/>
              </a:lnSpc>
            </a:pPr>
            <a:r>
              <a:rPr lang="en-US" sz="3985" spc="39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64309" y="2157083"/>
            <a:ext cx="12985195" cy="2562430"/>
            <a:chOff x="0" y="0"/>
            <a:chExt cx="5257135" cy="10374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57135" cy="1037415"/>
            </a:xfrm>
            <a:custGeom>
              <a:avLst/>
              <a:gdLst/>
              <a:ahLst/>
              <a:cxnLst/>
              <a:rect l="l" t="t" r="r" b="b"/>
              <a:pathLst>
                <a:path w="5257135" h="1037415">
                  <a:moveTo>
                    <a:pt x="0" y="0"/>
                  </a:moveTo>
                  <a:lnTo>
                    <a:pt x="5257135" y="0"/>
                  </a:lnTo>
                  <a:lnTo>
                    <a:pt x="5257135" y="1037415"/>
                  </a:lnTo>
                  <a:lnTo>
                    <a:pt x="0" y="10374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57135" cy="1075515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99952" y="6109826"/>
            <a:ext cx="5763204" cy="1719639"/>
            <a:chOff x="0" y="0"/>
            <a:chExt cx="2333268" cy="6962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33268" cy="696206"/>
            </a:xfrm>
            <a:custGeom>
              <a:avLst/>
              <a:gdLst/>
              <a:ahLst/>
              <a:cxnLst/>
              <a:rect l="l" t="t" r="r" b="b"/>
              <a:pathLst>
                <a:path w="2333268" h="696206">
                  <a:moveTo>
                    <a:pt x="0" y="0"/>
                  </a:moveTo>
                  <a:lnTo>
                    <a:pt x="2333268" y="0"/>
                  </a:lnTo>
                  <a:lnTo>
                    <a:pt x="2333268" y="696206"/>
                  </a:lnTo>
                  <a:lnTo>
                    <a:pt x="0" y="6962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33268" cy="734306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23355" y="1374312"/>
            <a:ext cx="1298962" cy="12989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23355" y="5681201"/>
            <a:ext cx="1298962" cy="12989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080980" y="5061459"/>
            <a:ext cx="5207020" cy="5207020"/>
          </a:xfrm>
          <a:custGeom>
            <a:avLst/>
            <a:gdLst/>
            <a:ahLst/>
            <a:cxnLst/>
            <a:rect l="l" t="t" r="r" b="b"/>
            <a:pathLst>
              <a:path w="5207020" h="5207020">
                <a:moveTo>
                  <a:pt x="0" y="0"/>
                </a:moveTo>
                <a:lnTo>
                  <a:pt x="5207020" y="0"/>
                </a:lnTo>
                <a:lnTo>
                  <a:pt x="5207020" y="5207020"/>
                </a:lnTo>
                <a:lnTo>
                  <a:pt x="0" y="5207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121605" y="321208"/>
            <a:ext cx="8284869" cy="84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1"/>
              </a:lnSpc>
            </a:pPr>
            <a:r>
              <a:rPr lang="en-US" sz="6124" spc="6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ACCESS THE APP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29239" y="2614612"/>
            <a:ext cx="12405720" cy="1806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437" b="1">
                <a:solidFill>
                  <a:srgbClr val="194A8D"/>
                </a:solidFill>
                <a:latin typeface="Arimo Bold"/>
                <a:ea typeface="Arimo Bold"/>
                <a:cs typeface="Arimo Bold"/>
                <a:sym typeface="Arimo Bold"/>
              </a:rPr>
              <a:t>Visit:</a:t>
            </a:r>
          </a:p>
          <a:p>
            <a:pPr algn="l">
              <a:lnSpc>
                <a:spcPts val="4812"/>
              </a:lnSpc>
              <a:spcBef>
                <a:spcPct val="0"/>
              </a:spcBef>
            </a:pPr>
            <a:r>
              <a:rPr lang="en-US" sz="3437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https://huggingface.co/spaces/Toobaaaa/personal-budget-planner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46702" y="6511625"/>
            <a:ext cx="4240963" cy="589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  <a:spcBef>
                <a:spcPct val="0"/>
              </a:spcBef>
            </a:pPr>
            <a:r>
              <a:rPr lang="en-US" sz="3358" b="1">
                <a:solidFill>
                  <a:srgbClr val="194A8D"/>
                </a:solidFill>
                <a:latin typeface="Arimo Bold"/>
                <a:ea typeface="Arimo Bold"/>
                <a:cs typeface="Arimo Bold"/>
                <a:sym typeface="Arimo Bold"/>
              </a:rPr>
              <a:t>Scan the QR code: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23355" y="1768654"/>
            <a:ext cx="1259700" cy="55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4"/>
              </a:lnSpc>
            </a:pPr>
            <a:r>
              <a:rPr lang="en-US" sz="3985" spc="39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62617" y="6157451"/>
            <a:ext cx="1259700" cy="55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4"/>
              </a:lnSpc>
            </a:pPr>
            <a:r>
              <a:rPr lang="en-US" sz="3985" spc="39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id="20" name="Freeform 20"/>
          <p:cNvSpPr/>
          <p:nvPr/>
        </p:nvSpPr>
        <p:spPr>
          <a:xfrm rot="-5400000">
            <a:off x="1501474" y="6326416"/>
            <a:ext cx="2494258" cy="5486306"/>
          </a:xfrm>
          <a:custGeom>
            <a:avLst/>
            <a:gdLst/>
            <a:ahLst/>
            <a:cxnLst/>
            <a:rect l="l" t="t" r="r" b="b"/>
            <a:pathLst>
              <a:path w="3211815" h="6172200">
                <a:moveTo>
                  <a:pt x="0" y="0"/>
                </a:moveTo>
                <a:lnTo>
                  <a:pt x="3211815" y="0"/>
                </a:lnTo>
                <a:lnTo>
                  <a:pt x="321181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5400000" flipV="1">
            <a:off x="14791163" y="-1449231"/>
            <a:ext cx="2040673" cy="4953001"/>
          </a:xfrm>
          <a:custGeom>
            <a:avLst/>
            <a:gdLst/>
            <a:ahLst/>
            <a:cxnLst/>
            <a:rect l="l" t="t" r="r" b="b"/>
            <a:pathLst>
              <a:path w="2040673" h="3921596">
                <a:moveTo>
                  <a:pt x="0" y="3921596"/>
                </a:moveTo>
                <a:lnTo>
                  <a:pt x="2040672" y="3921596"/>
                </a:lnTo>
                <a:lnTo>
                  <a:pt x="2040672" y="0"/>
                </a:lnTo>
                <a:lnTo>
                  <a:pt x="0" y="0"/>
                </a:lnTo>
                <a:lnTo>
                  <a:pt x="0" y="3921596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15306866" y="-940462"/>
            <a:ext cx="2040673" cy="3921596"/>
          </a:xfrm>
          <a:custGeom>
            <a:avLst/>
            <a:gdLst/>
            <a:ahLst/>
            <a:cxnLst/>
            <a:rect l="l" t="t" r="r" b="b"/>
            <a:pathLst>
              <a:path w="2040673" h="3921596">
                <a:moveTo>
                  <a:pt x="0" y="3921596"/>
                </a:moveTo>
                <a:lnTo>
                  <a:pt x="2040672" y="3921596"/>
                </a:lnTo>
                <a:lnTo>
                  <a:pt x="2040672" y="0"/>
                </a:lnTo>
                <a:lnTo>
                  <a:pt x="0" y="0"/>
                </a:lnTo>
                <a:lnTo>
                  <a:pt x="0" y="3921596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98906" y="3763325"/>
            <a:ext cx="11090188" cy="84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1"/>
              </a:lnSpc>
            </a:pPr>
            <a:r>
              <a:rPr lang="en-US" sz="6124" spc="61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LIVE DEMONSTRATION</a:t>
            </a:r>
          </a:p>
        </p:txBody>
      </p:sp>
      <p:sp>
        <p:nvSpPr>
          <p:cNvPr id="4" name="Freeform 4"/>
          <p:cNvSpPr/>
          <p:nvPr/>
        </p:nvSpPr>
        <p:spPr>
          <a:xfrm rot="-5400000">
            <a:off x="962028" y="7305866"/>
            <a:ext cx="2040673" cy="3921596"/>
          </a:xfrm>
          <a:custGeom>
            <a:avLst/>
            <a:gdLst/>
            <a:ahLst/>
            <a:cxnLst/>
            <a:rect l="l" t="t" r="r" b="b"/>
            <a:pathLst>
              <a:path w="2040673" h="3921596">
                <a:moveTo>
                  <a:pt x="0" y="0"/>
                </a:moveTo>
                <a:lnTo>
                  <a:pt x="2040672" y="0"/>
                </a:lnTo>
                <a:lnTo>
                  <a:pt x="2040672" y="3921596"/>
                </a:lnTo>
                <a:lnTo>
                  <a:pt x="0" y="3921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47015" y="2057400"/>
            <a:ext cx="3211815" cy="6172200"/>
          </a:xfrm>
          <a:custGeom>
            <a:avLst/>
            <a:gdLst/>
            <a:ahLst/>
            <a:cxnLst/>
            <a:rect l="l" t="t" r="r" b="b"/>
            <a:pathLst>
              <a:path w="3211815" h="6172200">
                <a:moveTo>
                  <a:pt x="0" y="0"/>
                </a:moveTo>
                <a:lnTo>
                  <a:pt x="3211815" y="0"/>
                </a:lnTo>
                <a:lnTo>
                  <a:pt x="321181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2286000" y="2057400"/>
            <a:ext cx="3211815" cy="6172200"/>
          </a:xfrm>
          <a:custGeom>
            <a:avLst/>
            <a:gdLst/>
            <a:ahLst/>
            <a:cxnLst/>
            <a:rect l="l" t="t" r="r" b="b"/>
            <a:pathLst>
              <a:path w="3211815" h="6172200">
                <a:moveTo>
                  <a:pt x="3211815" y="0"/>
                </a:moveTo>
                <a:lnTo>
                  <a:pt x="0" y="0"/>
                </a:lnTo>
                <a:lnTo>
                  <a:pt x="0" y="6172200"/>
                </a:lnTo>
                <a:lnTo>
                  <a:pt x="3211815" y="6172200"/>
                </a:lnTo>
                <a:lnTo>
                  <a:pt x="321181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757562" y="4181804"/>
            <a:ext cx="6772877" cy="254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88"/>
              </a:lnSpc>
            </a:pPr>
            <a:r>
              <a:rPr lang="en-US" sz="9328" spc="93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1525</Words>
  <Application>Microsoft Macintosh PowerPoint</Application>
  <PresentationFormat>Custom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League Spartan</vt:lpstr>
      <vt:lpstr>Arial</vt:lpstr>
      <vt:lpstr>Arimo</vt:lpstr>
      <vt:lpstr>Arimo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Budget Planner</dc:title>
  <cp:lastModifiedBy>Tooba Edhi (She/Her)</cp:lastModifiedBy>
  <cp:revision>31</cp:revision>
  <dcterms:created xsi:type="dcterms:W3CDTF">2006-08-16T00:00:00Z</dcterms:created>
  <dcterms:modified xsi:type="dcterms:W3CDTF">2025-11-03T07:19:03Z</dcterms:modified>
  <dc:identifier>DAG3mBLXkw0</dc:identifier>
</cp:coreProperties>
</file>